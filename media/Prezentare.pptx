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27570-4F48-5FDF-5005-0E48981CC9B4}" v="18" dt="2026-04-20T06:42:44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6B329-3419-4DFD-9676-150BA8656062}" type="datetimeFigureOut"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6CE07C-AE2E-4647-9D9A-9FDB7654FD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75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Unitară în Python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Strategii de generare a testelor · RentalBookingProcessor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Armeanca</a:t>
            </a:r>
            <a:r>
              <a:rPr lang="en-US" sz="13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Elis Daniel, </a:t>
            </a:r>
            <a:r>
              <a:rPr lang="en-US" sz="13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Chiose</a:t>
            </a:r>
            <a:r>
              <a:rPr lang="en-US" sz="13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Mihne</a:t>
            </a:r>
            <a:r>
              <a:rPr lang="en-US" sz="1300" dirty="0">
                <a:solidFill>
                  <a:srgbClr val="64748B"/>
                </a:solidFill>
              </a:rPr>
              <a:t>a</a:t>
            </a:r>
            <a:r>
              <a:rPr lang="en-US" sz="13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Stefan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Clasa Testată – RentalBookingProcessor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face clasa?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Procesează cereri de închiriere auto,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validând datele clientului și ale flotei.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Returnează lista mașinilor eligibile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un mesaj de eroare descriptiv.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Parametrii metodei process_booking()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60520" cy="365760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2070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0" y="1207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mașinilor disponibile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572768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5910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15910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Vârsta clientului (≥ 18)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956816"/>
            <a:ext cx="4160520" cy="365760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has_license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19751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 valid (boolean)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40864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3591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driving_experience_years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3591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 de experiență la volan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724912"/>
            <a:ext cx="4160520" cy="365760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rental_days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2743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Număr de zile (&gt; 0)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4160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127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3127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Buget maxim (&gt; 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493008"/>
            <a:ext cx="4160520" cy="365760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35112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min_seats_needed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35112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Locuri minime necesare (&gt; 0)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Logică cheie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2724912"/>
            <a:ext cx="4114800" cy="457200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724912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7249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Restricție putere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9456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21 ani sau &lt; 2 ani exp. → max 120 CP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236976"/>
            <a:ext cx="4114800" cy="457200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236976"/>
            <a:ext cx="54864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2369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Taxă extra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94560" y="32369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&lt; 21 ani → +20 RON/zi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749040"/>
            <a:ext cx="4114800" cy="457200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749040"/>
            <a:ext cx="54864" cy="457200"/>
          </a:xfrm>
          <a:prstGeom prst="rect">
            <a:avLst/>
          </a:prstGeom>
          <a:solidFill>
            <a:srgbClr val="2D62C8"/>
          </a:solidFill>
          <a:ln w="12700">
            <a:solidFill>
              <a:srgbClr val="2D62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9456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Necesită ≥ 25 ani ȘI ≥ 3 ani experiență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261104"/>
            <a:ext cx="4114800" cy="457200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261104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2611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/ Standard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194560" y="42611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Necesită ≥ 18 ani ȘI ≥ 1 an experiență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Partiționare în Clase de Echivalență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parametru este împărțit în clase valide și invalide. Un test per clasă este suficient.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28600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188720"/>
            <a:ext cx="310896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188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Clasă INVALIDĂ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188720"/>
            <a:ext cx="301752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188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Clasă VALIDĂ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228600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554480"/>
            <a:ext cx="310896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554480"/>
            <a:ext cx="301752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819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15819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18 → 'Client is underage'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5819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18 → procesat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1965960"/>
            <a:ext cx="31089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1965960"/>
            <a:ext cx="3017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9933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has_license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19933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'Client has no valid license'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19933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procesat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377440"/>
            <a:ext cx="228600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7480" y="2377440"/>
            <a:ext cx="310896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377440"/>
            <a:ext cx="301752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4048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driving_experience_years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88920" y="2404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 → 'Invalid driving experience'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2404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 → procesat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788920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2788920"/>
            <a:ext cx="31089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2788920"/>
            <a:ext cx="3017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816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rental_days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88920" y="28163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 → 'Invalid rental period'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28163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 → procesat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200400"/>
            <a:ext cx="228600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97480" y="3200400"/>
            <a:ext cx="310896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52160" y="3200400"/>
            <a:ext cx="301752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227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88920" y="32278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 → 'Invalid budget'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3227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 → procesat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611880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7480" y="3611880"/>
            <a:ext cx="31089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3611880"/>
            <a:ext cx="3017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39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min_seats_needed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88920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 → 'Invalid seat requirement'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36393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 → procesat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023360"/>
            <a:ext cx="228600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97480" y="4023360"/>
            <a:ext cx="310896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0" y="4023360"/>
            <a:ext cx="3017520" cy="393192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0507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cars (lista goala)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88920" y="40507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→ 'No cars available'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43600" y="40507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conține mașini eligibile → listă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11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Valorilor de Frontieră (BVA)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Testăm valorile exact la frontieră, sub și deasupra, pentru fiecare prag identificat.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251960" cy="603504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54864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2435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Vârstă 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499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Valori: 17 / 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4996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vs major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07008"/>
            <a:ext cx="4251960" cy="603504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07008"/>
            <a:ext cx="54864" cy="60350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2435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Taxă extra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28616" y="1499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Valori: 20 / 21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2280" y="14996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Dispare taxa +20 RON/zi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865376"/>
            <a:ext cx="4251960" cy="603504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865376"/>
            <a:ext cx="54864" cy="603504"/>
          </a:xfrm>
          <a:prstGeom prst="rect">
            <a:avLst/>
          </a:prstGeom>
          <a:solidFill>
            <a:srgbClr val="2D62C8"/>
          </a:solidFill>
          <a:ln w="12700">
            <a:solidFill>
              <a:srgbClr val="2D62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9019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– vârstă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Valori: 24 / 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2157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mașini premium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865376"/>
            <a:ext cx="4251960" cy="603504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865376"/>
            <a:ext cx="54864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19019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Experiență input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28616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Valori: -1 / 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2157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vs valid ca input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523744"/>
            <a:ext cx="4251960" cy="603504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523744"/>
            <a:ext cx="54864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25603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economy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Valori: 0 /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77440" y="28163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pentru economy/standard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523744"/>
            <a:ext cx="4251960" cy="603504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523744"/>
            <a:ext cx="54864" cy="603504"/>
          </a:xfrm>
          <a:prstGeom prst="rect">
            <a:avLst/>
          </a:prstGeom>
          <a:solidFill>
            <a:srgbClr val="2D62C8"/>
          </a:solidFill>
          <a:ln w="12700">
            <a:solidFill>
              <a:srgbClr val="2D62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25603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premium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28616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Valori: 2 /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28163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pentru premium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182112"/>
            <a:ext cx="4251960" cy="603504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182112"/>
            <a:ext cx="54864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3218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Zile închiriere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Valori: 0 / 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77440" y="34747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vs valid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182112"/>
            <a:ext cx="4251960" cy="603504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3182112"/>
            <a:ext cx="54864" cy="60350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3218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Putere motor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28616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Valori: 120 / 121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12280" y="34747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șoferi tineri (CP)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840480"/>
            <a:ext cx="4251960" cy="603504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840480"/>
            <a:ext cx="54864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" y="38770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Locuri mașină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3776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Valori: 5 / 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377440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egal vs insuficient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00600" y="3840480"/>
            <a:ext cx="4251960" cy="603504"/>
          </a:xfrm>
          <a:prstGeom prst="rect">
            <a:avLst/>
          </a:prstGeom>
          <a:solidFill>
            <a:srgbClr val="F1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3840480"/>
            <a:ext cx="54864" cy="60350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28616" y="38770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(tânăr)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28616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Valori: 139 / 140 / 141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12280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/ exact / peste total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11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Acoperire Structurală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test_structural_coverage.py vizează 4 niveluri de acoperire a codului.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1737360"/>
          </a:xfrm>
          <a:prstGeom prst="rect">
            <a:avLst/>
          </a:prstGeom>
          <a:solidFill>
            <a:srgbClr val="F1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4160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1: Instrucțiune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linie de cod este executată cel puțin o dată.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bază: client valid, mașini diverse → parcurgem toate ramurile principale.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160520" cy="1737360"/>
          </a:xfrm>
          <a:prstGeom prst="rect">
            <a:avLst/>
          </a:prstGeom>
          <a:solidFill>
            <a:srgbClr val="F1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70432"/>
            <a:ext cx="4160520" cy="384048"/>
          </a:xfrm>
          <a:prstGeom prst="rect">
            <a:avLst/>
          </a:prstGeom>
          <a:solidFill>
            <a:srgbClr val="2D62C8"/>
          </a:solidFill>
          <a:ln w="12700">
            <a:solidFill>
              <a:srgbClr val="2D62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2344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2: Decizie (Branch)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6459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ramură if/else ia valoarea True ȘI False.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car["available"] = True și False sunt acoperite separat.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44952"/>
            <a:ext cx="4160520" cy="1737360"/>
          </a:xfrm>
          <a:prstGeom prst="rect">
            <a:avLst/>
          </a:prstGeom>
          <a:solidFill>
            <a:srgbClr val="F1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44952"/>
            <a:ext cx="416052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10896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108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3: Condiție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sub-condiție dintr-o expresie compusă ia ambele valori.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(client_age &lt; 21 OR exp &lt; 2) testată cu ambele variante.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044952"/>
            <a:ext cx="4160520" cy="1737360"/>
          </a:xfrm>
          <a:prstGeom prst="rect">
            <a:avLst/>
          </a:prstGeom>
          <a:solidFill>
            <a:srgbClr val="F1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044952"/>
            <a:ext cx="416052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10896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108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4: Circuite Independente (McCabe)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Complexitate ciclomatică V(G) = E - N + 2P.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drum liniar independent prin graf este parcurs de cel puțin un test.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Raportului de Mutanți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Folosim</a:t>
            </a:r>
            <a:r>
              <a:rPr lang="en-US" sz="12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un generator de </a:t>
            </a:r>
            <a:r>
              <a:rPr lang="en-US" sz="12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mutanți</a:t>
            </a:r>
            <a:r>
              <a:rPr lang="en-US" sz="12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(cosmic-ray) </a:t>
            </a:r>
            <a:r>
              <a:rPr lang="en-US" sz="12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pentru</a:t>
            </a:r>
            <a:r>
              <a:rPr lang="en-US" sz="12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2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evalua</a:t>
            </a:r>
            <a:r>
              <a:rPr lang="en-US" sz="12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calitatea</a:t>
            </a:r>
            <a:r>
              <a:rPr lang="en-US" sz="12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suitei</a:t>
            </a:r>
            <a:r>
              <a:rPr lang="en-US" sz="12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de teste.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testarea prin mutanți?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Generatorul introduce modificări sintetice (mutanți) în cod:
operatori de comparație, valori numerice, operatori logici, continue → break.
Un mutant este 'omorât' dacă cel puțin un test eșuează pe el.
Mutanții supraviețuitori = zone acoperite insuficient de teste.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1170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Tipuri de mutații aplicate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36192"/>
            <a:ext cx="3246120" cy="310896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536192"/>
            <a:ext cx="54864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05856" y="15453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82512" y="1545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→ ≤, &gt; → ≥, == → !=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1874520"/>
            <a:ext cx="3246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874520"/>
            <a:ext cx="54864" cy="31089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05856" y="1883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82512" y="1883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→ −, * → /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212848"/>
            <a:ext cx="3246120" cy="310896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212848"/>
            <a:ext cx="54864" cy="310896"/>
          </a:xfrm>
          <a:prstGeom prst="rect">
            <a:avLst/>
          </a:prstGeom>
          <a:solidFill>
            <a:srgbClr val="2D62C8"/>
          </a:solidFill>
          <a:ln w="12700">
            <a:solidFill>
              <a:srgbClr val="2D6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05856" y="2221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82512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→ or, or → and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551176"/>
            <a:ext cx="3246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551176"/>
            <a:ext cx="54864" cy="31089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05856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82512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→ break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2889504"/>
            <a:ext cx="3246120" cy="310896"/>
          </a:xfrm>
          <a:prstGeom prst="rect">
            <a:avLst/>
          </a:prstGeom>
          <a:solidFill>
            <a:srgbClr val="EEF3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2889504"/>
            <a:ext cx="54864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05856" y="2898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82512" y="2898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numerice ±1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246120"/>
            <a:ext cx="8458200" cy="160020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30098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Interpretarea raportului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" y="37490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657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Killed: 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11680" y="3657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 detectat de teste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74904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657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Survived: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657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 nedetectat → lipsă test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4279392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187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Equivalent: 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11680" y="4187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schimbă comportamentul → ignorat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42793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187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Score: 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4187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/ (Total − Equivalent) × 100%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Suplimentare pentru Mutanți Neechivalenți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Identificăm 2 mutanți supraviețuitori neechivalenți și scriem teste care îi omoară.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58200" cy="32918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 1 – continue → break  (la car["available"] == False)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14800" cy="621792"/>
          </a:xfrm>
          <a:prstGeom prst="rect">
            <a:avLst/>
          </a:prstGeom>
          <a:solidFill>
            <a:srgbClr val="1E2A4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Cod original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car["available"]: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90288" y="1554480"/>
            <a:ext cx="4114800" cy="621792"/>
          </a:xfrm>
          <a:prstGeom prst="rect">
            <a:avLst/>
          </a:prstGeom>
          <a:solidFill>
            <a:srgbClr val="1E2A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554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Mutant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81728" y="1764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car["available"]: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240280"/>
            <a:ext cx="8458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ucigaș: prima mașină = indisponibilă, a doua = disponibilă și eligibilă.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Programul corect găsește a doua mașină; mutantul se oprește la break și nu o găsește.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798064"/>
            <a:ext cx="8458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self.assertEqual(result[0]["model"], "Renault Clio")  # eșuează pe mutant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8458200" cy="32918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546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 2 – continue → break  (la car["seats"] &lt; min_seats_needed)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4114800" cy="621792"/>
          </a:xfrm>
          <a:prstGeom prst="rect">
            <a:avLst/>
          </a:prstGeom>
          <a:solidFill>
            <a:srgbClr val="1E2A4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Cod original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581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car["seats"] &lt; min_seats_needed: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90288" y="3547872"/>
            <a:ext cx="4114800" cy="621792"/>
          </a:xfrm>
          <a:prstGeom prst="rect">
            <a:avLst/>
          </a:prstGeom>
          <a:solidFill>
            <a:srgbClr val="1E2A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Mutant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81728" y="37581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car["seats"] &lt; min_seats_needed: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224528"/>
            <a:ext cx="8458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ucigaș: prima mașină are 2 locuri (insuficient), a doua are 5 (ok).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Programul corect returnează a doua mașină; mutantul iese din buclă prematur.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test_mutation_additional.py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813816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14400"/>
            <a:ext cx="64008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9784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Echivalență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31673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teste acoperă toate clasele de input valid/invalid identificate.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813816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20240"/>
            <a:ext cx="640080" cy="8686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02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19842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de Frontieră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32257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metode de test izolează exact pragurile critice ale logicii.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813816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2D62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26080"/>
            <a:ext cx="640080" cy="868680"/>
          </a:xfrm>
          <a:prstGeom prst="rect">
            <a:avLst/>
          </a:prstGeom>
          <a:solidFill>
            <a:srgbClr val="2D62C8"/>
          </a:solidFill>
          <a:ln w="12700">
            <a:solidFill>
              <a:srgbClr val="2D62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260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00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Acoperire Structurală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32841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Testat pe 4 niveluri: instrucțiune, decizie, condiție, circuite.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813816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931920"/>
            <a:ext cx="640080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319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39959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Mutanți Omorâți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33425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mutanți neechivalenți (continue→break) detectați și uciși.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Testare Unitara in Python</dc:title>
  <dc:subject>PptxGenJS Presentation</dc:subject>
  <dc:creator>PptxGenJS</dc:creator>
  <cp:lastModifiedBy>PptxGenJS</cp:lastModifiedBy>
  <cp:revision>12</cp:revision>
  <dcterms:created xsi:type="dcterms:W3CDTF">2026-04-20T06:35:49Z</dcterms:created>
  <dcterms:modified xsi:type="dcterms:W3CDTF">2026-04-20T06:43:38Z</dcterms:modified>
</cp:coreProperties>
</file>